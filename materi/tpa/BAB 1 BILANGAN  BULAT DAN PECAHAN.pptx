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E8F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023360"/>
            <a:ext cx="3108960" cy="3108960"/>
          </a:xfrm>
          <a:prstGeom prst="ellipse">
            <a:avLst/>
          </a:prstGeom>
          <a:solidFill>
            <a:srgbClr val="E0A139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914400" cy="914400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30759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7FD1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MATERI NUMERIKAL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60604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Bilangan Bulat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Pecahan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68680" y="4709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Tes Potensi Akademik  •  PKN STAN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86968" y="5257800"/>
            <a:ext cx="1463040" cy="41148"/>
          </a:xfrm>
          <a:prstGeom prst="rect">
            <a:avLst/>
          </a:prstGeom>
          <a:solidFill>
            <a:srgbClr val="E0A139"/>
          </a:solidFill>
          <a:ln/>
        </p:spPr>
      </p:sp>
      <p:sp>
        <p:nvSpPr>
          <p:cNvPr id="10" name="Text 7"/>
          <p:cNvSpPr/>
          <p:nvPr/>
        </p:nvSpPr>
        <p:spPr>
          <a:xfrm>
            <a:off x="886968" y="5440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materi dilengkapi contoh soal + pembahasan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263" y="64154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18872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Bilangan Bulat: Konsep &amp; Aturan Tanda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658368"/>
          </a:xfrm>
          <a:prstGeom prst="roundRect">
            <a:avLst>
              <a:gd name="adj" fmla="val 1250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298448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  </a:t>
            </a:r>
            <a:pPr indent="0" marL="0">
              <a:buNone/>
            </a:pPr>
            <a:r>
              <a:rPr lang="en-US" sz="13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Bilangan negatif, nol, dan positif — tanpa pecahan/desimal:  …, −3, −2, −1, 0, 1, 2, 3, …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097280" y="2468880"/>
            <a:ext cx="9966960" cy="0"/>
          </a:xfrm>
          <a:prstGeom prst="line">
            <a:avLst/>
          </a:prstGeom>
          <a:noFill/>
          <a:ln w="19050">
            <a:solidFill>
              <a:srgbClr val="5C707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2404872"/>
            <a:ext cx="0" cy="128016"/>
          </a:xfrm>
          <a:prstGeom prst="line">
            <a:avLst/>
          </a:prstGeom>
          <a:noFill/>
          <a:ln w="19050">
            <a:solidFill>
              <a:srgbClr val="5C70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542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758440" y="2404872"/>
            <a:ext cx="0" cy="128016"/>
          </a:xfrm>
          <a:prstGeom prst="line">
            <a:avLst/>
          </a:prstGeom>
          <a:noFill/>
          <a:ln w="19050">
            <a:solidFill>
              <a:srgbClr val="5C70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38400" y="2542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419600" y="2404872"/>
            <a:ext cx="0" cy="128016"/>
          </a:xfrm>
          <a:prstGeom prst="line">
            <a:avLst/>
          </a:prstGeom>
          <a:noFill/>
          <a:ln w="19050">
            <a:solidFill>
              <a:srgbClr val="5C707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99560" y="2542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080760" y="2404872"/>
            <a:ext cx="0" cy="128016"/>
          </a:xfrm>
          <a:prstGeom prst="line">
            <a:avLst/>
          </a:prstGeom>
          <a:noFill/>
          <a:ln w="19050">
            <a:solidFill>
              <a:srgbClr val="5C707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2542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7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741920" y="2404872"/>
            <a:ext cx="0" cy="128016"/>
          </a:xfrm>
          <a:prstGeom prst="line">
            <a:avLst/>
          </a:prstGeom>
          <a:noFill/>
          <a:ln w="19050">
            <a:solidFill>
              <a:srgbClr val="5C70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21880" y="2542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403080" y="2404872"/>
            <a:ext cx="0" cy="128016"/>
          </a:xfrm>
          <a:prstGeom prst="line">
            <a:avLst/>
          </a:prstGeom>
          <a:noFill/>
          <a:ln w="19050">
            <a:solidFill>
              <a:srgbClr val="5C70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83040" y="2542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1064240" y="2404872"/>
            <a:ext cx="0" cy="128016"/>
          </a:xfrm>
          <a:prstGeom prst="line">
            <a:avLst/>
          </a:prstGeom>
          <a:noFill/>
          <a:ln w="19050">
            <a:solidFill>
              <a:srgbClr val="5C70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744200" y="25420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005840" y="2084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negatif  ←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326880" y="2084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positif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2920" y="3063240"/>
            <a:ext cx="5468112" cy="1737360"/>
          </a:xfrm>
          <a:prstGeom prst="roundRect">
            <a:avLst>
              <a:gd name="adj" fmla="val 473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77240" y="3291840"/>
            <a:ext cx="457200" cy="457200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419856"/>
            <a:ext cx="201168" cy="20116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371600" y="330098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Penjumlahan &amp; Pengurangan</a:t>
            </a:r>
            <a:endParaRPr lang="en-US" sz="1450" dirty="0"/>
          </a:p>
        </p:txBody>
      </p:sp>
      <p:sp>
        <p:nvSpPr>
          <p:cNvPr id="29" name="Text 25"/>
          <p:cNvSpPr/>
          <p:nvPr/>
        </p:nvSpPr>
        <p:spPr>
          <a:xfrm>
            <a:off x="822960" y="3776472"/>
            <a:ext cx="49651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sama → jumlahkan, ikuti tandanya:  −4 + (−3) = −7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beda → cari selisih, ikuti tanda terbesar:  −7 + 3 = −4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negatif = tambah:  5 − (−2) = 7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217920" y="3063240"/>
            <a:ext cx="5468112" cy="1737360"/>
          </a:xfrm>
          <a:prstGeom prst="roundRect">
            <a:avLst>
              <a:gd name="adj" fmla="val 4737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492240" y="3291840"/>
            <a:ext cx="457200" cy="457200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3419856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086600" y="330098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Perkalian &amp; Pembagian</a:t>
            </a:r>
            <a:endParaRPr lang="en-US" sz="1450" dirty="0"/>
          </a:p>
        </p:txBody>
      </p:sp>
      <p:sp>
        <p:nvSpPr>
          <p:cNvPr id="34" name="Text 29"/>
          <p:cNvSpPr/>
          <p:nvPr/>
        </p:nvSpPr>
        <p:spPr>
          <a:xfrm>
            <a:off x="6537960" y="3776472"/>
            <a:ext cx="49651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sama → hasil positif:  (−) × (−) = (+)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beda → hasil negatif:  (−) × (+) = (−)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Urutan: kurung → pangkat → ×,÷ → +,−  ⇒  2 + 3 × 4 = 14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502920" y="502920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777240" y="517550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A139"/>
          </a:solidFill>
          <a:ln/>
        </p:spPr>
      </p:sp>
      <p:sp>
        <p:nvSpPr>
          <p:cNvPr id="37" name="Text 32"/>
          <p:cNvSpPr/>
          <p:nvPr/>
        </p:nvSpPr>
        <p:spPr>
          <a:xfrm>
            <a:off x="777240" y="517550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SOAL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2331720" y="5148072"/>
            <a:ext cx="9125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dari  −8 + 4 × (−3) − (−5)  adalah ….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795528" y="55412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−33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−15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−6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6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15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795528" y="5852160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Jawaban: B  </a:t>
            </a:r>
            <a:pPr indent="0" marL="0">
              <a:buNone/>
            </a:pPr>
            <a:r>
              <a:rPr lang="en-US" sz="105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kalikan dulu: 4×(−3)=−12, lalu −8−12+5 = −15.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263" y="64154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18872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Sifat-Sifat Operasi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90576" y="1371600"/>
            <a:ext cx="3566160" cy="1481328"/>
          </a:xfrm>
          <a:prstGeom prst="roundRect">
            <a:avLst>
              <a:gd name="adj" fmla="val 4938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28320" y="1591056"/>
            <a:ext cx="475488" cy="475488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56" y="1724193"/>
            <a:ext cx="209215" cy="2092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1824" y="15910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Komutatif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46608" y="2121408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boleh ditukar (+ dan ×)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46608" y="2377440"/>
            <a:ext cx="3054096" cy="365760"/>
          </a:xfrm>
          <a:prstGeom prst="roundRect">
            <a:avLst>
              <a:gd name="adj" fmla="val 12500"/>
            </a:avLst>
          </a:prstGeom>
          <a:solidFill>
            <a:srgbClr val="E1EFEF"/>
          </a:solidFill>
          <a:ln/>
        </p:spPr>
      </p:sp>
      <p:pic>
        <p:nvPicPr>
          <p:cNvPr id="12" name="Image 2" descr="/home/claude/math/sifat_komutati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289" y="2459736"/>
            <a:ext cx="1164734" cy="201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312768" y="1371600"/>
            <a:ext cx="3566160" cy="1481328"/>
          </a:xfrm>
          <a:prstGeom prst="roundRect">
            <a:avLst>
              <a:gd name="adj" fmla="val 4938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550512" y="1591056"/>
            <a:ext cx="475488" cy="475488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648" y="1724193"/>
            <a:ext cx="209215" cy="2092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54016" y="15910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Asosiatif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4568800" y="2121408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Pengelompokan boleh diubah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568800" y="2377440"/>
            <a:ext cx="3054096" cy="365760"/>
          </a:xfrm>
          <a:prstGeom prst="roundRect">
            <a:avLst>
              <a:gd name="adj" fmla="val 12500"/>
            </a:avLst>
          </a:prstGeom>
          <a:solidFill>
            <a:srgbClr val="E1EFEF"/>
          </a:solidFill>
          <a:ln/>
        </p:spPr>
      </p:sp>
      <p:pic>
        <p:nvPicPr>
          <p:cNvPr id="19" name="Image 4" descr="/home/claude/math/sifat_asosiati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6800" y="2459736"/>
            <a:ext cx="2118095" cy="20116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134960" y="1371600"/>
            <a:ext cx="3566160" cy="1481328"/>
          </a:xfrm>
          <a:prstGeom prst="roundRect">
            <a:avLst>
              <a:gd name="adj" fmla="val 4938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8372704" y="1591056"/>
            <a:ext cx="475488" cy="475488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840" y="1724193"/>
            <a:ext cx="209215" cy="20921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976208" y="15910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Distributif</a:t>
            </a:r>
            <a:endParaRPr lang="en-US" sz="1550" dirty="0"/>
          </a:p>
        </p:txBody>
      </p:sp>
      <p:sp>
        <p:nvSpPr>
          <p:cNvPr id="24" name="Text 16"/>
          <p:cNvSpPr/>
          <p:nvPr/>
        </p:nvSpPr>
        <p:spPr>
          <a:xfrm>
            <a:off x="8390992" y="2121408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hitung cepat!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8390992" y="2377440"/>
            <a:ext cx="3054096" cy="365760"/>
          </a:xfrm>
          <a:prstGeom prst="roundRect">
            <a:avLst>
              <a:gd name="adj" fmla="val 12500"/>
            </a:avLst>
          </a:prstGeom>
          <a:solidFill>
            <a:srgbClr val="F3E4C6"/>
          </a:solidFill>
          <a:ln/>
        </p:spPr>
      </p:sp>
      <p:pic>
        <p:nvPicPr>
          <p:cNvPr id="26" name="Image 6" descr="/home/claude/math/sifat_distributi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2171" y="2459736"/>
            <a:ext cx="1871737" cy="201168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2401672" y="3072384"/>
            <a:ext cx="3566160" cy="1481328"/>
          </a:xfrm>
          <a:prstGeom prst="roundRect">
            <a:avLst>
              <a:gd name="adj" fmla="val 4938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2639416" y="3291840"/>
            <a:ext cx="475488" cy="475488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2552" y="3424977"/>
            <a:ext cx="209215" cy="20921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24292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Identitas</a:t>
            </a:r>
            <a:endParaRPr lang="en-US" sz="1550" dirty="0"/>
          </a:p>
        </p:txBody>
      </p:sp>
      <p:sp>
        <p:nvSpPr>
          <p:cNvPr id="31" name="Text 21"/>
          <p:cNvSpPr/>
          <p:nvPr/>
        </p:nvSpPr>
        <p:spPr>
          <a:xfrm>
            <a:off x="2657704" y="3822192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untuk +, 1 untuk ×</a:t>
            </a:r>
            <a:endParaRPr lang="en-US" sz="1050" dirty="0"/>
          </a:p>
        </p:txBody>
      </p:sp>
      <p:sp>
        <p:nvSpPr>
          <p:cNvPr id="32" name="Shape 22"/>
          <p:cNvSpPr/>
          <p:nvPr/>
        </p:nvSpPr>
        <p:spPr>
          <a:xfrm>
            <a:off x="2657704" y="4078224"/>
            <a:ext cx="3054096" cy="365760"/>
          </a:xfrm>
          <a:prstGeom prst="roundRect">
            <a:avLst>
              <a:gd name="adj" fmla="val 12500"/>
            </a:avLst>
          </a:prstGeom>
          <a:solidFill>
            <a:srgbClr val="E1EFEF"/>
          </a:solidFill>
          <a:ln/>
        </p:spPr>
      </p:sp>
      <p:pic>
        <p:nvPicPr>
          <p:cNvPr id="33" name="Image 8" descr="/home/claude/math/sifat_identita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0282" y="4160520"/>
            <a:ext cx="2088940" cy="201168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6223864" y="3072384"/>
            <a:ext cx="3566160" cy="1481328"/>
          </a:xfrm>
          <a:prstGeom prst="roundRect">
            <a:avLst>
              <a:gd name="adj" fmla="val 4938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6461608" y="3291840"/>
            <a:ext cx="475488" cy="475488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4744" y="3424977"/>
            <a:ext cx="209215" cy="209215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065112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</a:t>
            </a:r>
            <a:endParaRPr lang="en-US" sz="1550" dirty="0"/>
          </a:p>
        </p:txBody>
      </p:sp>
      <p:sp>
        <p:nvSpPr>
          <p:cNvPr id="38" name="Text 26"/>
          <p:cNvSpPr/>
          <p:nvPr/>
        </p:nvSpPr>
        <p:spPr>
          <a:xfrm>
            <a:off x="6479896" y="3822192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Lawan = negatifnya</a:t>
            </a:r>
            <a:endParaRPr lang="en-US" sz="1050" dirty="0"/>
          </a:p>
        </p:txBody>
      </p:sp>
      <p:sp>
        <p:nvSpPr>
          <p:cNvPr id="39" name="Shape 27"/>
          <p:cNvSpPr/>
          <p:nvPr/>
        </p:nvSpPr>
        <p:spPr>
          <a:xfrm>
            <a:off x="6479896" y="4078224"/>
            <a:ext cx="3054096" cy="365760"/>
          </a:xfrm>
          <a:prstGeom prst="roundRect">
            <a:avLst>
              <a:gd name="adj" fmla="val 12500"/>
            </a:avLst>
          </a:prstGeom>
          <a:solidFill>
            <a:srgbClr val="E1EFEF"/>
          </a:solidFill>
          <a:ln/>
        </p:spPr>
      </p:sp>
      <p:pic>
        <p:nvPicPr>
          <p:cNvPr id="40" name="Image 10" descr="/home/claude/math/sifat_inver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42799" y="4160520"/>
            <a:ext cx="1128290" cy="201168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502920" y="493776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42" name="Shape 29"/>
          <p:cNvSpPr/>
          <p:nvPr/>
        </p:nvSpPr>
        <p:spPr>
          <a:xfrm>
            <a:off x="777240" y="508406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A139"/>
          </a:solidFill>
          <a:ln/>
        </p:spPr>
      </p:sp>
      <p:sp>
        <p:nvSpPr>
          <p:cNvPr id="43" name="Text 30"/>
          <p:cNvSpPr/>
          <p:nvPr/>
        </p:nvSpPr>
        <p:spPr>
          <a:xfrm>
            <a:off x="777240" y="508406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SOAL</a:t>
            </a:r>
            <a:endParaRPr lang="en-US" sz="950" dirty="0"/>
          </a:p>
        </p:txBody>
      </p:sp>
      <p:sp>
        <p:nvSpPr>
          <p:cNvPr id="44" name="Text 31"/>
          <p:cNvSpPr/>
          <p:nvPr/>
        </p:nvSpPr>
        <p:spPr>
          <a:xfrm>
            <a:off x="2331720" y="5056632"/>
            <a:ext cx="9125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dari  25 × 37 + 25 × 63  adalah ….</a:t>
            </a:r>
            <a:endParaRPr lang="en-US" sz="1150" dirty="0"/>
          </a:p>
        </p:txBody>
      </p:sp>
      <p:sp>
        <p:nvSpPr>
          <p:cNvPr id="45" name="Text 32"/>
          <p:cNvSpPr/>
          <p:nvPr/>
        </p:nvSpPr>
        <p:spPr>
          <a:xfrm>
            <a:off x="795528" y="544982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250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1.500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2.500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3.700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6.300</a:t>
            </a:r>
            <a:endParaRPr lang="en-US" sz="1100" dirty="0"/>
          </a:p>
        </p:txBody>
      </p:sp>
      <p:sp>
        <p:nvSpPr>
          <p:cNvPr id="46" name="Text 33"/>
          <p:cNvSpPr/>
          <p:nvPr/>
        </p:nvSpPr>
        <p:spPr>
          <a:xfrm>
            <a:off x="795528" y="5760720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Jawaban: C  </a:t>
            </a:r>
            <a:pPr indent="0" marL="0">
              <a:buNone/>
            </a:pPr>
            <a:r>
              <a:rPr lang="en-US" sz="105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faktorkan: 25×(37+63) = 25×100 = 2.500.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263" y="64154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18872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Jenis-Jenis Bilangan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4292" y="1417320"/>
            <a:ext cx="5486400" cy="1572768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0324" y="1655064"/>
            <a:ext cx="502920" cy="502920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41" y="1795882"/>
            <a:ext cx="221285" cy="2212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00404" y="165506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Ganjil &amp; Genap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06044" y="2167128"/>
            <a:ext cx="4882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Genap ÷2 habis; ganjil tidak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genap±genap = genap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ganjil±ganjil = genap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01004" y="1417320"/>
            <a:ext cx="5486400" cy="1572768"/>
          </a:xfrm>
          <a:prstGeom prst="roundRect">
            <a:avLst>
              <a:gd name="adj" fmla="val 4651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57036" y="1655064"/>
            <a:ext cx="502920" cy="502920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853" y="1795882"/>
            <a:ext cx="221285" cy="22128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97116" y="165506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Bilangan Prima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502756" y="2167128"/>
            <a:ext cx="4882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habis dibagi 1 &amp; dirinya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3, 5, 7, 11, 13, …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BUKAN prima; 2 satu-satunya genap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4292" y="3227832"/>
            <a:ext cx="5486400" cy="1572768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60324" y="3465576"/>
            <a:ext cx="502920" cy="502920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141" y="3606394"/>
            <a:ext cx="221285" cy="22128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00404" y="34655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Faktor &amp; Kelipatan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06044" y="3977640"/>
            <a:ext cx="4882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12: 1,2,3,4,6,12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FPB → membagi rata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KPK → bertemu bersamaan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01004" y="3227832"/>
            <a:ext cx="5486400" cy="1572768"/>
          </a:xfrm>
          <a:prstGeom prst="roundRect">
            <a:avLst>
              <a:gd name="adj" fmla="val 4651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57036" y="3465576"/>
            <a:ext cx="502920" cy="502920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853" y="3606394"/>
            <a:ext cx="221285" cy="22128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97116" y="34655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Ciri Habis Dibagi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6502756" y="3977640"/>
            <a:ext cx="488289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:2 → akhir genap;  :5 → akhir 0/5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 → jumlah digit ÷3 habis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 → jumlah digit ÷9 habis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02920" y="502920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77240" y="517550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A139"/>
          </a:solidFill>
          <a:ln/>
        </p:spPr>
      </p:sp>
      <p:sp>
        <p:nvSpPr>
          <p:cNvPr id="28" name="Text 21"/>
          <p:cNvSpPr/>
          <p:nvPr/>
        </p:nvSpPr>
        <p:spPr>
          <a:xfrm>
            <a:off x="777240" y="517550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SOAL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2331720" y="5148072"/>
            <a:ext cx="9125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Bilangan berikut yang habis dibagi 3 adalah ….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795528" y="55412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2.451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3.130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4.216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5.102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6.140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95528" y="5852160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Jawaban: A  </a:t>
            </a:r>
            <a:pPr indent="0" marL="0">
              <a:buNone/>
            </a:pPr>
            <a:r>
              <a:rPr lang="en-US" sz="105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jumlah digit 2.451 = 12, habis dibagi 3.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263" y="64154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18872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Pecahan: Konsep &amp; Operasi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603504"/>
          </a:xfrm>
          <a:prstGeom prst="roundRect">
            <a:avLst>
              <a:gd name="adj" fmla="val 13636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298448"/>
            <a:ext cx="10607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  </a:t>
            </a:r>
            <a:pPr indent="0" marL="0">
              <a:buNone/>
            </a:pPr>
            <a:r>
              <a:rPr lang="en-US" sz="135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dari keseluruhan, a/b. a = pembilang (atas), b = penyebut (bawah, ≠ 0).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4292" y="205740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0324" y="2240280"/>
            <a:ext cx="457200" cy="457200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40" y="236829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63828" y="222199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Jumlah / Kurang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63828" y="255117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Samakan penyebut dulu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60324" y="2825496"/>
            <a:ext cx="4974336" cy="438912"/>
          </a:xfrm>
          <a:prstGeom prst="roundRect">
            <a:avLst>
              <a:gd name="adj" fmla="val 10417"/>
            </a:avLst>
          </a:prstGeom>
          <a:solidFill>
            <a:srgbClr val="E1EFEF"/>
          </a:solidFill>
          <a:ln/>
        </p:spPr>
      </p:sp>
      <p:pic>
        <p:nvPicPr>
          <p:cNvPr id="14" name="Image 2" descr="/home/claude/math/pecahan_jumla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655" y="2907792"/>
            <a:ext cx="753673" cy="2743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01004" y="205740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57036" y="2240280"/>
            <a:ext cx="457200" cy="457200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052" y="236829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60540" y="222199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Perkalian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060540" y="255117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Atas×atas, bawah×bawah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457036" y="2825496"/>
            <a:ext cx="4974336" cy="438912"/>
          </a:xfrm>
          <a:prstGeom prst="roundRect">
            <a:avLst>
              <a:gd name="adj" fmla="val 10417"/>
            </a:avLst>
          </a:prstGeom>
          <a:solidFill>
            <a:srgbClr val="E1EFEF"/>
          </a:solidFill>
          <a:ln/>
        </p:spPr>
      </p:sp>
      <p:pic>
        <p:nvPicPr>
          <p:cNvPr id="21" name="Image 4" descr="/home/claude/math/pecahan_kal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8503" y="2907792"/>
            <a:ext cx="831401" cy="27432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04292" y="3538728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60324" y="3721608"/>
            <a:ext cx="457200" cy="457200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340" y="3849624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63828" y="370332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Pembagian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363828" y="403250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Balik pecahan ke-2, lalu kali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760324" y="4306824"/>
            <a:ext cx="4974336" cy="438912"/>
          </a:xfrm>
          <a:prstGeom prst="roundRect">
            <a:avLst>
              <a:gd name="adj" fmla="val 10417"/>
            </a:avLst>
          </a:prstGeom>
          <a:solidFill>
            <a:srgbClr val="F3E4C6"/>
          </a:solidFill>
          <a:ln/>
        </p:spPr>
      </p:sp>
      <p:pic>
        <p:nvPicPr>
          <p:cNvPr id="28" name="Image 6" descr="/home/claude/math/pecahan_bag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655" y="4389120"/>
            <a:ext cx="753673" cy="27432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6201004" y="3538728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6457036" y="3721608"/>
            <a:ext cx="457200" cy="457200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5052" y="3849624"/>
            <a:ext cx="201168" cy="2011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060540" y="370332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Membandingkan</a:t>
            </a:r>
            <a:endParaRPr lang="en-US" sz="1400" dirty="0"/>
          </a:p>
        </p:txBody>
      </p:sp>
      <p:sp>
        <p:nvSpPr>
          <p:cNvPr id="33" name="Text 23"/>
          <p:cNvSpPr/>
          <p:nvPr/>
        </p:nvSpPr>
        <p:spPr>
          <a:xfrm>
            <a:off x="7060540" y="403250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Perkalian silang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6457036" y="4306824"/>
            <a:ext cx="4974336" cy="438912"/>
          </a:xfrm>
          <a:prstGeom prst="roundRect">
            <a:avLst>
              <a:gd name="adj" fmla="val 10417"/>
            </a:avLst>
          </a:prstGeom>
          <a:solidFill>
            <a:srgbClr val="F3E4C6"/>
          </a:solidFill>
          <a:ln/>
        </p:spPr>
      </p:sp>
      <p:pic>
        <p:nvPicPr>
          <p:cNvPr id="35" name="Image 8" descr="/home/claude/math/pecahan_bandin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9979" y="4389120"/>
            <a:ext cx="428448" cy="274320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502920" y="502920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37" name="Shape 26"/>
          <p:cNvSpPr/>
          <p:nvPr/>
        </p:nvSpPr>
        <p:spPr>
          <a:xfrm>
            <a:off x="777240" y="517550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A139"/>
          </a:solidFill>
          <a:ln/>
        </p:spPr>
      </p:sp>
      <p:sp>
        <p:nvSpPr>
          <p:cNvPr id="38" name="Text 27"/>
          <p:cNvSpPr/>
          <p:nvPr/>
        </p:nvSpPr>
        <p:spPr>
          <a:xfrm>
            <a:off x="777240" y="517550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SOAL</a:t>
            </a:r>
            <a:endParaRPr lang="en-US" sz="950" dirty="0"/>
          </a:p>
        </p:txBody>
      </p:sp>
      <p:sp>
        <p:nvSpPr>
          <p:cNvPr id="39" name="Text 28"/>
          <p:cNvSpPr/>
          <p:nvPr/>
        </p:nvSpPr>
        <p:spPr>
          <a:xfrm>
            <a:off x="2331720" y="5148072"/>
            <a:ext cx="9125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dari  2/3 + 1/4 − 1/2  adalah ….</a:t>
            </a:r>
            <a:endParaRPr lang="en-US" sz="1150" dirty="0"/>
          </a:p>
        </p:txBody>
      </p:sp>
      <p:sp>
        <p:nvSpPr>
          <p:cNvPr id="40" name="Text 29"/>
          <p:cNvSpPr/>
          <p:nvPr/>
        </p:nvSpPr>
        <p:spPr>
          <a:xfrm>
            <a:off x="795528" y="55412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1/6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5/12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1/2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7/12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1/12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795528" y="5852160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Jawaban: B  </a:t>
            </a:r>
            <a:pPr indent="0" marL="0">
              <a:buNone/>
            </a:pPr>
            <a:r>
              <a:rPr lang="en-US" sz="105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samakan ke /12: 8+3−6 = 5, jadi 5/12.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E8F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263" y="641543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188720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45720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 Konversi Pecahan · Desimal · Persen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325880" y="1133856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Hafalkan untuk hemat waktu.  </a:t>
            </a:r>
            <a:pPr indent="0" marL="0">
              <a:buNone/>
            </a:pPr>
            <a:r>
              <a:rPr lang="en-US" sz="1200" b="1" i="1" dirty="0">
                <a:solidFill>
                  <a:srgbClr val="B8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Pola: /8 naik 12,5% • /4 naik 25% • /5 naik 20% tiap langkah.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8864" y="1572768"/>
            <a:ext cx="3529584" cy="365760"/>
          </a:xfrm>
          <a:prstGeom prst="roundRect">
            <a:avLst>
              <a:gd name="adj" fmla="val 12500"/>
            </a:avLst>
          </a:prstGeom>
          <a:solidFill>
            <a:srgbClr val="0E8F8C"/>
          </a:solidFill>
          <a:ln/>
        </p:spPr>
      </p:sp>
      <p:sp>
        <p:nvSpPr>
          <p:cNvPr id="8" name="Text 5"/>
          <p:cNvSpPr/>
          <p:nvPr/>
        </p:nvSpPr>
        <p:spPr>
          <a:xfrm>
            <a:off x="508864" y="1572768"/>
            <a:ext cx="3529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Kelompok /2 · /4 · /8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864" y="2029968"/>
          <a:ext cx="3529584" cy="914400"/>
        </p:xfrm>
        <a:graphic>
          <a:graphicData uri="http://schemas.openxmlformats.org/drawingml/2006/table">
            <a:tbl>
              <a:tblPr/>
              <a:tblGrid>
                <a:gridCol w="1170432"/>
                <a:gridCol w="1170432"/>
                <a:gridCol w="1188720"/>
              </a:tblGrid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Pecahan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Desimal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8C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331056" y="1572768"/>
            <a:ext cx="3529584" cy="365760"/>
          </a:xfrm>
          <a:prstGeom prst="roundRect">
            <a:avLst>
              <a:gd name="adj" fmla="val 12500"/>
            </a:avLst>
          </a:prstGeom>
          <a:solidFill>
            <a:srgbClr val="E0A139"/>
          </a:solidFill>
          <a:ln/>
        </p:spPr>
      </p:sp>
      <p:sp>
        <p:nvSpPr>
          <p:cNvPr id="11" name="Text 7"/>
          <p:cNvSpPr/>
          <p:nvPr/>
        </p:nvSpPr>
        <p:spPr>
          <a:xfrm>
            <a:off x="4331056" y="1572768"/>
            <a:ext cx="3529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Kelompok /5 · /10 · /25</a:t>
            </a:r>
            <a:endParaRPr lang="en-US" sz="12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31056" y="2029968"/>
          <a:ext cx="3529584" cy="914400"/>
        </p:xfrm>
        <a:graphic>
          <a:graphicData uri="http://schemas.openxmlformats.org/drawingml/2006/table">
            <a:tbl>
              <a:tblPr/>
              <a:tblGrid>
                <a:gridCol w="1170432"/>
                <a:gridCol w="1170432"/>
                <a:gridCol w="1188720"/>
              </a:tblGrid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Pecahan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1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Desimal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1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139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8153248" y="1572768"/>
            <a:ext cx="3529584" cy="365760"/>
          </a:xfrm>
          <a:prstGeom prst="roundRect">
            <a:avLst>
              <a:gd name="adj" fmla="val 12500"/>
            </a:avLst>
          </a:prstGeom>
          <a:solidFill>
            <a:srgbClr val="0E8F8C"/>
          </a:solidFill>
          <a:ln/>
        </p:spPr>
      </p:sp>
      <p:sp>
        <p:nvSpPr>
          <p:cNvPr id="14" name="Text 9"/>
          <p:cNvSpPr/>
          <p:nvPr/>
        </p:nvSpPr>
        <p:spPr>
          <a:xfrm>
            <a:off x="8153248" y="1572768"/>
            <a:ext cx="3529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Kelompok /3 · /6 · lainnya</a:t>
            </a:r>
            <a:endParaRPr lang="en-US" sz="125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53248" y="2029968"/>
          <a:ext cx="3529584" cy="914400"/>
        </p:xfrm>
        <a:graphic>
          <a:graphicData uri="http://schemas.openxmlformats.org/drawingml/2006/table">
            <a:tbl>
              <a:tblPr/>
              <a:tblGrid>
                <a:gridCol w="1170432"/>
                <a:gridCol w="1170432"/>
                <a:gridCol w="1188720"/>
              </a:tblGrid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Pecahan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Desimal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F8C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0,333…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0,666…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0,1666…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0,8333…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0,111…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0,0833…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502920" y="4526280"/>
            <a:ext cx="5486400" cy="1508760"/>
          </a:xfrm>
          <a:prstGeom prst="roundRect">
            <a:avLst>
              <a:gd name="adj" fmla="val 5455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31520" y="4672584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0A139"/>
          </a:solidFill>
          <a:ln/>
        </p:spPr>
      </p:sp>
      <p:sp>
        <p:nvSpPr>
          <p:cNvPr id="18" name="Text 12"/>
          <p:cNvSpPr/>
          <p:nvPr/>
        </p:nvSpPr>
        <p:spPr>
          <a:xfrm>
            <a:off x="731520" y="467258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SOAL</a:t>
            </a:r>
            <a:endParaRPr lang="en-US" sz="880" dirty="0"/>
          </a:p>
        </p:txBody>
      </p:sp>
      <p:sp>
        <p:nvSpPr>
          <p:cNvPr id="19" name="Text 13"/>
          <p:cNvSpPr/>
          <p:nvPr/>
        </p:nvSpPr>
        <p:spPr>
          <a:xfrm>
            <a:off x="2167128" y="467258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 Pecahan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758952" y="502920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persen dari  5/8  adalah ….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58952" y="5367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40%</a:t>
            </a:r>
            <a:pPr indent="0" marL="0">
              <a:buNone/>
            </a:pPr>
            <a:r>
              <a:rPr lang="en-US" sz="10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0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55%</a:t>
            </a:r>
            <a:pPr indent="0" marL="0">
              <a:buNone/>
            </a:pPr>
            <a:r>
              <a:rPr lang="en-US" sz="10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0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60%</a:t>
            </a:r>
            <a:pPr indent="0" marL="0">
              <a:buNone/>
            </a:pPr>
            <a:r>
              <a:rPr lang="en-US" sz="10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00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62,5%</a:t>
            </a:r>
            <a:pPr indent="0" marL="0">
              <a:buNone/>
            </a:pPr>
            <a:r>
              <a:rPr lang="en-US" sz="10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0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75%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58952" y="566013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Jawaban: D  </a:t>
            </a:r>
            <a:pPr indent="0" marL="0">
              <a:buNone/>
            </a:pPr>
            <a:r>
              <a:rPr lang="en-US" sz="100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5/8 = 0,625 = 62,5%.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199632" y="4526280"/>
            <a:ext cx="5486400" cy="1508760"/>
          </a:xfrm>
          <a:prstGeom prst="roundRect">
            <a:avLst>
              <a:gd name="adj" fmla="val 5455"/>
            </a:avLst>
          </a:prstGeom>
          <a:solidFill>
            <a:srgbClr val="FBF3E6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28232" y="4672584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0A139"/>
          </a:solidFill>
          <a:ln/>
        </p:spPr>
      </p:sp>
      <p:sp>
        <p:nvSpPr>
          <p:cNvPr id="25" name="Text 19"/>
          <p:cNvSpPr/>
          <p:nvPr/>
        </p:nvSpPr>
        <p:spPr>
          <a:xfrm>
            <a:off x="6428232" y="467258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SOAL</a:t>
            </a:r>
            <a:endParaRPr lang="en-US" sz="880" dirty="0"/>
          </a:p>
        </p:txBody>
      </p:sp>
      <p:sp>
        <p:nvSpPr>
          <p:cNvPr id="26" name="Text 20"/>
          <p:cNvSpPr/>
          <p:nvPr/>
        </p:nvSpPr>
        <p:spPr>
          <a:xfrm>
            <a:off x="7863840" y="467258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455664" y="502920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Pecahan terbesar di antara berikut adalah ….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455664" y="5367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3/5</a:t>
            </a:r>
            <a:pPr indent="0" marL="0">
              <a:buNone/>
            </a:pPr>
            <a:r>
              <a:rPr lang="en-US" sz="10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0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5/8</a:t>
            </a:r>
            <a:pPr indent="0" marL="0">
              <a:buNone/>
            </a:pPr>
            <a:r>
              <a:rPr lang="en-US" sz="10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0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7/12</a:t>
            </a:r>
            <a:pPr indent="0" marL="0">
              <a:buNone/>
            </a:pPr>
            <a:r>
              <a:rPr lang="en-US" sz="10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0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4/7</a:t>
            </a:r>
            <a:pPr indent="0" marL="0">
              <a:buNone/>
            </a:pPr>
            <a:r>
              <a:rPr lang="en-US" sz="1000" dirty="0">
                <a:solidFill>
                  <a:srgbClr val="1E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000" b="1" dirty="0">
                <a:solidFill>
                  <a:srgbClr val="0E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2/3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455664" y="566013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Jawaban: E  </a:t>
            </a:r>
            <a:pPr indent="0" marL="0">
              <a:buNone/>
            </a:pPr>
            <a:r>
              <a:rPr lang="en-US" sz="1000" i="1" dirty="0">
                <a:solidFill>
                  <a:srgbClr val="5C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desimalkan: 2/3 ≈ 0,667 paling besar.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35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023360" cy="4023360"/>
          </a:xfrm>
          <a:prstGeom prst="ellipse">
            <a:avLst/>
          </a:prstGeom>
          <a:solidFill>
            <a:srgbClr val="0E8F8C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280160"/>
            <a:ext cx="3291840" cy="3291840"/>
          </a:xfrm>
          <a:prstGeom prst="ellipse">
            <a:avLst/>
          </a:prstGeom>
          <a:solidFill>
            <a:srgbClr val="E0A13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658368" cy="658368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263" y="687263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50292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Jebakan Umum &amp; Prioritas Belajar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16002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16404A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D9534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00" y="2033260"/>
            <a:ext cx="249448" cy="2494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90195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Hindari 2 Jebakan Ini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68680" y="26060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7F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Aturan tanda</a:t>
            </a:r>
            <a:endParaRPr lang="en-US" sz="140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5 − (−3) = 8, bukan 2. Kurang negatif = tambah.</a:t>
            </a:r>
            <a:endParaRPr lang="en-US" sz="140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7F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Urutan operasi</a:t>
            </a:r>
            <a:endParaRPr lang="en-US" sz="140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+ 3 × 4 = 14, bukan 20. Kalikan dulu, baru tambah.</a:t>
            </a:r>
            <a:endParaRPr lang="en-US" sz="140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0A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</a:t>
            </a:r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D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penyebut lebih besar → pecahan lebih kecil (3/7 &gt; 3/8).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99632" y="16002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16404A"/>
          </a:solidFill>
          <a:ln/>
          <a:effectLst>
            <a:outerShdw sx="100000" sy="100000" kx="0" ky="0" algn="bl" rotWithShape="0" blurRad="88900" dist="38100" dir="5400000">
              <a:srgbClr val="0B283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19672" y="1874520"/>
            <a:ext cx="566928" cy="566928"/>
          </a:xfrm>
          <a:prstGeom prst="ellipse">
            <a:avLst/>
          </a:prstGeom>
          <a:solidFill>
            <a:srgbClr val="E0A13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412" y="2033260"/>
            <a:ext cx="249448" cy="2494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05472" y="190195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Prioritas untuk TPA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583680" y="2651760"/>
            <a:ext cx="4892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E4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 pecahan /2 · /4 · /8 dan /5 · /10 (paling sering)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E4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 habis dibagi — hemat waktu di perkalian besar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E4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pecahan (perkalian silang)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E4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 distributif untuk hitung cepat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E4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Persen sebagai pecahan: 25% = 1/4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FD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berikut: perbanyak latihan soal campuran bergaya TPA STAN.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Bilangan Bulat &amp; Pecahan</dc:title>
  <dc:subject>PptxGenJS Presentation</dc:subject>
  <dc:creator>Claude</dc:creator>
  <cp:lastModifiedBy>Claude</cp:lastModifiedBy>
  <cp:revision>1</cp:revision>
  <dcterms:created xsi:type="dcterms:W3CDTF">2026-07-05T03:23:54Z</dcterms:created>
  <dcterms:modified xsi:type="dcterms:W3CDTF">2026-07-05T03:23:54Z</dcterms:modified>
</cp:coreProperties>
</file>